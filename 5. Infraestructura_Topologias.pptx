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85800"/>
            <a:ext cx="10817352" cy="5486400"/>
          </a:xfrm>
          <a:prstGeom prst="rect">
            <a:avLst/>
          </a:prstGeom>
          <a:solidFill>
            <a:srgbClr val="16273F"/>
          </a:solidFill>
          <a:ln w="12700">
            <a:solidFill>
              <a:srgbClr val="4866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680314"/>
            <a:ext cx="237744" cy="10973"/>
          </a:xfrm>
          <a:prstGeom prst="rect">
            <a:avLst/>
          </a:prstGeom>
          <a:solidFill>
            <a:srgbClr val="B85C2E"/>
          </a:solidFill>
          <a:ln/>
        </p:spPr>
      </p:sp>
      <p:sp>
        <p:nvSpPr>
          <p:cNvPr id="4" name="Shape 2"/>
          <p:cNvSpPr/>
          <p:nvPr/>
        </p:nvSpPr>
        <p:spPr>
          <a:xfrm>
            <a:off x="680314" y="566928"/>
            <a:ext cx="10973" cy="237744"/>
          </a:xfrm>
          <a:prstGeom prst="rect">
            <a:avLst/>
          </a:prstGeom>
          <a:solidFill>
            <a:srgbClr val="B85C2E"/>
          </a:solidFill>
          <a:ln/>
        </p:spPr>
      </p:sp>
      <p:sp>
        <p:nvSpPr>
          <p:cNvPr id="5" name="Shape 3"/>
          <p:cNvSpPr/>
          <p:nvPr/>
        </p:nvSpPr>
        <p:spPr>
          <a:xfrm>
            <a:off x="11384280" y="680314"/>
            <a:ext cx="237744" cy="10973"/>
          </a:xfrm>
          <a:prstGeom prst="rect">
            <a:avLst/>
          </a:prstGeom>
          <a:solidFill>
            <a:srgbClr val="B85C2E"/>
          </a:solidFill>
          <a:ln/>
        </p:spPr>
      </p:sp>
      <p:sp>
        <p:nvSpPr>
          <p:cNvPr id="6" name="Shape 4"/>
          <p:cNvSpPr/>
          <p:nvPr/>
        </p:nvSpPr>
        <p:spPr>
          <a:xfrm>
            <a:off x="11497666" y="566928"/>
            <a:ext cx="10973" cy="237744"/>
          </a:xfrm>
          <a:prstGeom prst="rect">
            <a:avLst/>
          </a:prstGeom>
          <a:solidFill>
            <a:srgbClr val="B85C2E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6166714"/>
            <a:ext cx="237744" cy="10973"/>
          </a:xfrm>
          <a:prstGeom prst="rect">
            <a:avLst/>
          </a:prstGeom>
          <a:solidFill>
            <a:srgbClr val="B85C2E"/>
          </a:solidFill>
          <a:ln/>
        </p:spPr>
      </p:sp>
      <p:sp>
        <p:nvSpPr>
          <p:cNvPr id="8" name="Shape 6"/>
          <p:cNvSpPr/>
          <p:nvPr/>
        </p:nvSpPr>
        <p:spPr>
          <a:xfrm>
            <a:off x="680314" y="6053328"/>
            <a:ext cx="10973" cy="237744"/>
          </a:xfrm>
          <a:prstGeom prst="rect">
            <a:avLst/>
          </a:prstGeom>
          <a:solidFill>
            <a:srgbClr val="B85C2E"/>
          </a:solidFill>
          <a:ln/>
        </p:spPr>
      </p:sp>
      <p:sp>
        <p:nvSpPr>
          <p:cNvPr id="9" name="Shape 7"/>
          <p:cNvSpPr/>
          <p:nvPr/>
        </p:nvSpPr>
        <p:spPr>
          <a:xfrm>
            <a:off x="11384280" y="6166714"/>
            <a:ext cx="237744" cy="10973"/>
          </a:xfrm>
          <a:prstGeom prst="rect">
            <a:avLst/>
          </a:prstGeom>
          <a:solidFill>
            <a:srgbClr val="B85C2E"/>
          </a:solidFill>
          <a:ln/>
        </p:spPr>
      </p:sp>
      <p:sp>
        <p:nvSpPr>
          <p:cNvPr id="10" name="Shape 8"/>
          <p:cNvSpPr/>
          <p:nvPr/>
        </p:nvSpPr>
        <p:spPr>
          <a:xfrm>
            <a:off x="11497666" y="6053328"/>
            <a:ext cx="10973" cy="237744"/>
          </a:xfrm>
          <a:prstGeom prst="rect">
            <a:avLst/>
          </a:prstGeom>
          <a:solidFill>
            <a:srgbClr val="B85C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34440" y="13716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FAE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UNIVERSIDAD DE LA SABANA · MÓDULO 05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187452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Infraestructura y Topologías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6118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corre realmente lo que documentamos en el módulo anterior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234440" y="4206240"/>
            <a:ext cx="7498080" cy="822960"/>
          </a:xfrm>
          <a:prstGeom prst="rect">
            <a:avLst/>
          </a:prstGeom>
          <a:solidFill>
            <a:srgbClr val="16273F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417320" y="420624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comprender los conceptos clave de infraestructura tecnológica, representarlos en un diagrama de despliegue y evaluar su efecto sobre rendimiento, disponibilidad y escalabilidad.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5349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E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Profesor: Ing. César Augusto Vega Fernández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5176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1188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5176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1188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OBJETIVO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se lleva del módulo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capacidades, no una lista de tecnologías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1920240"/>
            <a:ext cx="7223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1920240"/>
            <a:ext cx="50292" cy="914400"/>
          </a:xfrm>
          <a:prstGeom prst="rect">
            <a:avLst/>
          </a:prstGeom>
          <a:solidFill>
            <a:srgbClr val="B85C2E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78408" y="20574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1600200" y="2020824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Ubicar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23317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Llevar cada contenedor del diagrama C4 a un nodo de infraestructura concreto.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2953512"/>
            <a:ext cx="7223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2953512"/>
            <a:ext cx="50292" cy="91440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78408" y="309067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1600200" y="3054096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Elegir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600200" y="336499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topología y modelo de despliegue con criterios explícitos, no por moda.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85800" y="3986784"/>
            <a:ext cx="7223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" y="3986784"/>
            <a:ext cx="50292" cy="914400"/>
          </a:xfrm>
          <a:prstGeom prst="rect">
            <a:avLst/>
          </a:prstGeom>
          <a:solidFill>
            <a:srgbClr val="B85C2E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78408" y="412394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1600200" y="408736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Justificar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600200" y="4398264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qué cuesta cada buena práctica y cuándo no se justifica pagarla.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85800" y="5020056"/>
            <a:ext cx="7223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5800" y="5020056"/>
            <a:ext cx="50292" cy="91440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78408" y="515721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1600200" y="512064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Preparar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1600200" y="5431536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Dejar el diagrama listo para el análisis de amenazas y el de riesgos que vienen después.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8275320" y="1920240"/>
            <a:ext cx="3227832" cy="4142232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503920" y="21488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E8A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ENTREGABLE · TALLER 4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8503920" y="2514600"/>
            <a:ext cx="2788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despliegue del sistema del cliente, con sus nodos y zonas de red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Topología elegida, con la justificación de por qué esa y no otra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buenas prácticas aplicadas y su costo asumido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puntos únicos de falla detectados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6858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Módulo 5 · Infraestructura y Topologías</a:t>
            </a:r>
            <a:endParaRPr lang="en-US" sz="800" dirty="0"/>
          </a:p>
        </p:txBody>
      </p:sp>
      <p:sp>
        <p:nvSpPr>
          <p:cNvPr id="41" name="Text 39"/>
          <p:cNvSpPr txBox="1"/>
          <p:nvPr/>
        </p:nvSpPr>
        <p:spPr>
          <a:xfrm>
            <a:off x="10881360" y="65836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5176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1188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5176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1188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CONTINUIDAD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contenedor al nodo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Módulo 4 dijo qué se despliega por separado; este dice dónde corre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2011680"/>
            <a:ext cx="51206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41832" y="221284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1627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4 · CONTENEDORES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941832" y="2606040"/>
            <a:ext cx="4617720" cy="438912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97280" y="260604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Paciente (React)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41832" y="3108960"/>
            <a:ext cx="4617720" cy="438912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97280" y="310896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Clínica (Angular)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41832" y="3611880"/>
            <a:ext cx="4617720" cy="438912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97280" y="361188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 Aplicación (Spring Boot)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41832" y="4114800"/>
            <a:ext cx="4617720" cy="438912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97280" y="411480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de Integración (Node.js)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41832" y="4617720"/>
            <a:ext cx="4617720" cy="438912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97280" y="461772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Clínica (PostgreSQL)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943600" y="3566160"/>
            <a:ext cx="594360" cy="0"/>
          </a:xfrm>
          <a:prstGeom prst="line">
            <a:avLst/>
          </a:prstGeom>
          <a:noFill/>
          <a:ln w="15875">
            <a:solidFill>
              <a:srgbClr val="B85C2E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5806440" y="3611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¿dónde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corre?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675120" y="2011680"/>
            <a:ext cx="4828032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931152" y="221284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5 · NODOS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931152" y="2606040"/>
            <a:ext cx="4343400" cy="438912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086600" y="260604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pública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931152" y="3108960"/>
            <a:ext cx="4343400" cy="438912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086600" y="310896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de aplicaciones · sede principal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931152" y="3611880"/>
            <a:ext cx="4343400" cy="438912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086600" y="361188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de aplicaciones · sede principal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931152" y="4114800"/>
            <a:ext cx="4343400" cy="438912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086600" y="411480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de integración · DMZ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931152" y="4617720"/>
            <a:ext cx="4343400" cy="438912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086600" y="461772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de base de datos · red interna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85800" y="5303520"/>
            <a:ext cx="10820095" cy="105156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005840" y="5303520"/>
            <a:ext cx="101800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E8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relación no es uno a uno:  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contenedores pueden compartir un nodo, y un contenedor puede replicarse en varios. Ahí es donde aparecen las decisiones de infraestructura, y por eso no basta con el diagrama del Módulo 4.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6858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Módulo 5 · Infraestructura y Topologías</a:t>
            </a:r>
            <a:endParaRPr lang="en-US" sz="800" dirty="0"/>
          </a:p>
        </p:txBody>
      </p:sp>
      <p:sp>
        <p:nvSpPr>
          <p:cNvPr id="46" name="Text 44"/>
          <p:cNvSpPr txBox="1"/>
          <p:nvPr/>
        </p:nvSpPr>
        <p:spPr>
          <a:xfrm>
            <a:off x="10881360" y="65836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5176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1188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5176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1188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FUNDAMENTOS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cuatro capas de la arquitectura técnica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vocabulario mínimo para leer un diagrama de infraestructura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2011680"/>
            <a:ext cx="10820095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2011680"/>
            <a:ext cx="50292" cy="96012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60120" y="201168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de red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657600" y="201168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Firewalls, balanceadores, enrutamiento, VPN, zonas de seguridad.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092440" y="2148840"/>
            <a:ext cx="3291840" cy="685800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0" y="21488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quién puede hablar con quién.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5800" y="3063240"/>
            <a:ext cx="10820095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3063240"/>
            <a:ext cx="50292" cy="960120"/>
          </a:xfrm>
          <a:prstGeom prst="rect">
            <a:avLst/>
          </a:prstGeom>
          <a:solidFill>
            <a:srgbClr val="27405C"/>
          </a:solidFill>
          <a:ln w="12700">
            <a:solidFill>
              <a:srgbClr val="27405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0120" y="306324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de cómputo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3657600" y="306324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Servidores físicos, máquinas virtuales, contenedores, funciones sin servidor.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092440" y="3200400"/>
            <a:ext cx="3291840" cy="685800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29600" y="32004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dónde se ejecuta el código.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85800" y="4114800"/>
            <a:ext cx="10820095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" y="4114800"/>
            <a:ext cx="50292" cy="960120"/>
          </a:xfrm>
          <a:prstGeom prst="rect">
            <a:avLst/>
          </a:prstGeom>
          <a:solidFill>
            <a:srgbClr val="B85C2E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60120" y="411480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de datos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3657600" y="411480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de datos, almacenamiento de archivos, caché, respaldos.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092440" y="4251960"/>
            <a:ext cx="3291840" cy="685800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229600" y="42519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B8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dónde vive la información y cuánto sobrevive.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5800" y="5166360"/>
            <a:ext cx="10820095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5800" y="5166360"/>
            <a:ext cx="50292" cy="960120"/>
          </a:xfrm>
          <a:prstGeom prst="rect">
            <a:avLst/>
          </a:prstGeom>
          <a:solidFill>
            <a:srgbClr val="1E7A52"/>
          </a:solidFill>
          <a:ln w="12700">
            <a:solidFill>
              <a:srgbClr val="1E7A5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60120" y="516636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de observabilidad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3657600" y="516636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Registros, métricas, trazas, alertas.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8092440" y="5303520"/>
            <a:ext cx="3291840" cy="685800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229600" y="53035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1E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si alguien se entera cuando algo falla.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85800" y="626364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cuarta capa es la que más se omite en los proyectos de clase, y es la única que permite saber si las otras tres están funcionando.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6858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Módulo 5 · Infraestructura y Topologías</a:t>
            </a:r>
            <a:endParaRPr 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10881360" y="65836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5176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1188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5176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1188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METODOLOGÍA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construye un diagrama de despliegue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pasos, en este orden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2057400"/>
            <a:ext cx="25603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86968" y="22677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PASO 1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886968" y="2523744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Listar los nodos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86968" y="3291840"/>
            <a:ext cx="21945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nodo es un lugar de ejecución: un servidor, una máquina virtual, un servicio administrado en la nube, un dispositivo. Se listan antes de dibujar nada.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91840" y="3749040"/>
            <a:ext cx="137160" cy="0"/>
          </a:xfrm>
          <a:prstGeom prst="line">
            <a:avLst/>
          </a:prstGeom>
          <a:noFill/>
          <a:ln w="15875">
            <a:solidFill>
              <a:srgbClr val="5A7189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447288" y="2057400"/>
            <a:ext cx="25603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648456" y="22677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PASO 2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3648456" y="2523744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Ubicar los contenedores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3648456" y="3291840"/>
            <a:ext cx="21945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contenedor del diagrama C4 se asigna a un nodo. Si dos comparten nodo, se anota; si uno se replica, se dibujan las réplicas.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053328" y="3749040"/>
            <a:ext cx="137160" cy="0"/>
          </a:xfrm>
          <a:prstGeom prst="line">
            <a:avLst/>
          </a:prstGeom>
          <a:noFill/>
          <a:ln w="15875">
            <a:solidFill>
              <a:srgbClr val="5A7189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208776" y="2057400"/>
            <a:ext cx="25603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9944" y="22677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PASO 3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6409944" y="2523744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Trazar las zonas de red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409944" y="3291840"/>
            <a:ext cx="21945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agrupan los nodos por zona: pública, DMZ, red interna. Toda conexión que cruza una zona se marca.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814816" y="3749040"/>
            <a:ext cx="137160" cy="0"/>
          </a:xfrm>
          <a:prstGeom prst="line">
            <a:avLst/>
          </a:prstGeom>
          <a:noFill/>
          <a:ln w="15875">
            <a:solidFill>
              <a:srgbClr val="5A718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970264" y="2057400"/>
            <a:ext cx="25603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171432" y="22677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PASO 4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9171432" y="2523744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Etiquetar y validar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9171432" y="3291840"/>
            <a:ext cx="21945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nodo con su tecnología y capacidad; cada conexión con su protocolo. Se valida buscando qué se cae si falla cada nodo.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85800" y="5760720"/>
            <a:ext cx="10820095" cy="640080"/>
          </a:xfrm>
          <a:prstGeom prst="rect">
            <a:avLst/>
          </a:prstGeom>
          <a:solidFill>
            <a:srgbClr val="EFEDE3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60120" y="5760720"/>
            <a:ext cx="102714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validación del paso 4 es la parte importante:  </a:t>
            </a:r>
            <a:pPr indent="0" marL="0"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diagrama de despliegue que no se ha sometido a la pregunta «¿qué se cae si falla esto?» es solo un inventario de servidores.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6858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Módulo 5 · Infraestructura y Topologías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10881360" y="65836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5176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1188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5176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1188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CASO BASE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Despliegue de la Clínica Salud Viva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contenedores del Taller 3, ubicados en nodos y zonas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2011680"/>
            <a:ext cx="3200400" cy="3566160"/>
          </a:xfrm>
          <a:prstGeom prst="rect">
            <a:avLst/>
          </a:prstGeom>
          <a:solidFill>
            <a:srgbClr val="FAF9F4"/>
          </a:solidFill>
          <a:ln w="15875">
            <a:solidFill>
              <a:srgbClr val="5A7189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822960" y="208483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ZONA PÚBLICA · INTERNET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914400" y="2423160"/>
            <a:ext cx="2743200" cy="68580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" y="2423160"/>
            <a:ext cx="27432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CBD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Paciente estático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4400" y="3291840"/>
            <a:ext cx="2743200" cy="685800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" y="3291840"/>
            <a:ext cx="27432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 y médicos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CBD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 y móvil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14400" y="4160520"/>
            <a:ext cx="2743200" cy="685800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4160520"/>
            <a:ext cx="27432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externo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CBD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terceros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60520" y="2011680"/>
            <a:ext cx="3017520" cy="3566160"/>
          </a:xfrm>
          <a:prstGeom prst="rect">
            <a:avLst/>
          </a:prstGeom>
          <a:solidFill>
            <a:srgbClr val="FAF9F4"/>
          </a:solidFill>
          <a:ln w="15875">
            <a:solidFill>
              <a:srgbClr val="B85C2E"/>
            </a:solidFill>
            <a:prstDash val="dash"/>
          </a:ln>
        </p:spPr>
      </p:sp>
      <p:sp>
        <p:nvSpPr>
          <p:cNvPr id="26" name="Text 24"/>
          <p:cNvSpPr txBox="1"/>
          <p:nvPr/>
        </p:nvSpPr>
        <p:spPr>
          <a:xfrm>
            <a:off x="4297680" y="20848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DMZ · ZONA DESMILITARIZADA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343400" y="2423160"/>
            <a:ext cx="2651760" cy="777240"/>
          </a:xfrm>
          <a:prstGeom prst="rect">
            <a:avLst/>
          </a:prstGeom>
          <a:solidFill>
            <a:srgbClr val="B85C2E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343400" y="2423160"/>
            <a:ext cx="26517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Balanceador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CBD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reparte y termina TLS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343400" y="3383280"/>
            <a:ext cx="2651760" cy="822960"/>
          </a:xfrm>
          <a:prstGeom prst="rect">
            <a:avLst/>
          </a:prstGeom>
          <a:solidFill>
            <a:srgbClr val="27405C"/>
          </a:solidFill>
          <a:ln w="12700">
            <a:solidFill>
              <a:srgbClr val="27405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343400" y="3383280"/>
            <a:ext cx="26517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de Integración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CBD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· Node.js · HL7/FHIR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343400" y="4343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Único punto de contacto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 el laboratorio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452360" y="2011680"/>
            <a:ext cx="4050792" cy="3566160"/>
          </a:xfrm>
          <a:prstGeom prst="rect">
            <a:avLst/>
          </a:prstGeom>
          <a:solidFill>
            <a:srgbClr val="FAF9F4"/>
          </a:solidFill>
          <a:ln w="15875">
            <a:solidFill>
              <a:srgbClr val="1E7A52"/>
            </a:solidFill>
            <a:prstDash val="dash"/>
          </a:ln>
        </p:spPr>
      </p:sp>
      <p:sp>
        <p:nvSpPr>
          <p:cNvPr id="33" name="Text 31"/>
          <p:cNvSpPr txBox="1"/>
          <p:nvPr/>
        </p:nvSpPr>
        <p:spPr>
          <a:xfrm>
            <a:off x="7589520" y="208483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 INTERNA · SEDE PRINCIPAL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635240" y="2423160"/>
            <a:ext cx="3685032" cy="777240"/>
          </a:xfrm>
          <a:prstGeom prst="rect">
            <a:avLst/>
          </a:prstGeom>
          <a:solidFill>
            <a:srgbClr val="27405C"/>
          </a:solidFill>
          <a:ln w="12700">
            <a:solidFill>
              <a:srgbClr val="27405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635240" y="2423160"/>
            <a:ext cx="3685032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de aplicaciones · réplica 1</a:t>
            </a:r>
            <a:endParaRPr lang="en-US" sz="10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CBD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· API + App Clínica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635240" y="3291840"/>
            <a:ext cx="3685032" cy="777240"/>
          </a:xfrm>
          <a:prstGeom prst="rect">
            <a:avLst/>
          </a:prstGeom>
          <a:solidFill>
            <a:srgbClr val="27405C"/>
          </a:solidFill>
          <a:ln w="12700">
            <a:solidFill>
              <a:srgbClr val="27405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635240" y="3291840"/>
            <a:ext cx="3685032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de aplicaciones · réplica 2</a:t>
            </a:r>
            <a:endParaRPr lang="en-US" sz="10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CBD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· API + App Clínica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092440" y="4251960"/>
            <a:ext cx="2743200" cy="685800"/>
          </a:xfrm>
          <a:prstGeom prst="can">
            <a:avLst/>
          </a:prstGeom>
          <a:solidFill>
            <a:srgbClr val="16273F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092440" y="42519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de base de datos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sin réplica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092440" y="5029200"/>
            <a:ext cx="2743200" cy="411480"/>
          </a:xfrm>
          <a:prstGeom prst="rect">
            <a:avLst/>
          </a:prstGeom>
          <a:solidFill>
            <a:srgbClr val="F6E4D6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092440" y="5029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PUNTO ÚNICO DE FALLA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063240" y="2761488"/>
            <a:ext cx="1234440" cy="27432"/>
          </a:xfrm>
          <a:prstGeom prst="line">
            <a:avLst/>
          </a:prstGeom>
          <a:noFill/>
          <a:ln w="15875">
            <a:solidFill>
              <a:srgbClr val="5A7189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 flipH="1">
            <a:off x="3063240" y="2880360"/>
            <a:ext cx="1234440" cy="749808"/>
          </a:xfrm>
          <a:prstGeom prst="line">
            <a:avLst/>
          </a:prstGeom>
          <a:noFill/>
          <a:ln w="15875">
            <a:solidFill>
              <a:srgbClr val="5A7189"/>
            </a:solidFill>
            <a:prstDash val="solid"/>
            <a:headEnd type="triangle"/>
          </a:ln>
        </p:spPr>
      </p:sp>
      <p:sp>
        <p:nvSpPr>
          <p:cNvPr id="44" name="Shape 42"/>
          <p:cNvSpPr/>
          <p:nvPr/>
        </p:nvSpPr>
        <p:spPr>
          <a:xfrm flipH="1">
            <a:off x="3063240" y="3794760"/>
            <a:ext cx="1234440" cy="704088"/>
          </a:xfrm>
          <a:prstGeom prst="line">
            <a:avLst/>
          </a:prstGeom>
          <a:noFill/>
          <a:ln w="15875">
            <a:solidFill>
              <a:srgbClr val="5A7189"/>
            </a:solidFill>
            <a:prstDash val="dash"/>
            <a:headEnd type="triangle"/>
          </a:ln>
        </p:spPr>
      </p:sp>
      <p:sp>
        <p:nvSpPr>
          <p:cNvPr id="45" name="Shape 43"/>
          <p:cNvSpPr/>
          <p:nvPr/>
        </p:nvSpPr>
        <p:spPr>
          <a:xfrm>
            <a:off x="7040880" y="2788920"/>
            <a:ext cx="548640" cy="0"/>
          </a:xfrm>
          <a:prstGeom prst="line">
            <a:avLst/>
          </a:prstGeom>
          <a:noFill/>
          <a:ln w="15875">
            <a:solidFill>
              <a:srgbClr val="5A7189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 flipH="1">
            <a:off x="7040880" y="3657600"/>
            <a:ext cx="548640" cy="45720"/>
          </a:xfrm>
          <a:prstGeom prst="line">
            <a:avLst/>
          </a:prstGeom>
          <a:noFill/>
          <a:ln w="15875">
            <a:solidFill>
              <a:srgbClr val="5A7189"/>
            </a:solidFill>
            <a:prstDash val="solid"/>
            <a:headEnd type="triangle"/>
          </a:ln>
        </p:spPr>
      </p:sp>
      <p:sp>
        <p:nvSpPr>
          <p:cNvPr id="47" name="Shape 45"/>
          <p:cNvSpPr/>
          <p:nvPr/>
        </p:nvSpPr>
        <p:spPr>
          <a:xfrm>
            <a:off x="9464040" y="4114800"/>
            <a:ext cx="0" cy="91440"/>
          </a:xfrm>
          <a:prstGeom prst="line">
            <a:avLst/>
          </a:prstGeom>
          <a:noFill/>
          <a:ln w="15875">
            <a:solidFill>
              <a:srgbClr val="5A7189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685800" y="5760720"/>
            <a:ext cx="10820095" cy="640080"/>
          </a:xfrm>
          <a:prstGeom prst="rect">
            <a:avLst/>
          </a:prstGeom>
          <a:solidFill>
            <a:srgbClr val="EFEDE3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60120" y="5760720"/>
            <a:ext cx="102714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réplicas de aplicación protegen contra la caída de un servidor, pero la base de datos sin réplica anula esa protección: si cae, no importa cuántas aplicaciones haya.</a:t>
            </a:r>
            <a:endParaRPr lang="en-US" sz="1250" dirty="0"/>
          </a:p>
        </p:txBody>
      </p:sp>
      <p:sp>
        <p:nvSpPr>
          <p:cNvPr id="50" name="Text 48"/>
          <p:cNvSpPr txBox="1"/>
          <p:nvPr/>
        </p:nvSpPr>
        <p:spPr>
          <a:xfrm>
            <a:off x="6858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Módulo 5 · Infraestructura y Topologías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10881360" y="65836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5176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1188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5176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1188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DECISIÓN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de despliegue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opciones y el criterio para elegir entre ellas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2011680"/>
            <a:ext cx="25603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2011680"/>
            <a:ext cx="2560320" cy="54864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86968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On-premise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86968" y="267004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propia en las instalaciones de la organización.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86968" y="35661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1627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CUÁNDO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886968" y="3822192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la normativa exige que el dato no salga del país o del edificio.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86968" y="4846320"/>
            <a:ext cx="2194560" cy="822960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05840" y="484632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fijo alto, escalado lento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47288" y="2011680"/>
            <a:ext cx="25603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47288" y="2011680"/>
            <a:ext cx="2560320" cy="54864"/>
          </a:xfrm>
          <a:prstGeom prst="rect">
            <a:avLst/>
          </a:prstGeom>
          <a:solidFill>
            <a:srgbClr val="27405C"/>
          </a:solidFill>
          <a:ln w="12700">
            <a:solidFill>
              <a:srgbClr val="27405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648456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Nube pública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3648456" y="267004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contratada a un proveedor: AWS, Azure, GCP.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3648456" y="35661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2740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CUÁNDO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3648456" y="3822192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la demanda es variable y el equipo es pequeño.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648456" y="4846320"/>
            <a:ext cx="2194560" cy="822960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767328" y="484632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variable, dependencia del proveedor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08776" y="2011680"/>
            <a:ext cx="25603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08776" y="2011680"/>
            <a:ext cx="2560320" cy="54864"/>
          </a:xfrm>
          <a:prstGeom prst="rect">
            <a:avLst/>
          </a:prstGeom>
          <a:solidFill>
            <a:srgbClr val="B85C2E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09944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Híbrida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6409944" y="267004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propia, parte contratada.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409944" y="35661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CUÁNDO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6409944" y="3822192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hay datos sensibles que no pueden salir, pero cargas que sí.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409944" y="4846320"/>
            <a:ext cx="2194560" cy="822960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528816" y="484632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operaciones que mantener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970264" y="2011680"/>
            <a:ext cx="25603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970264" y="2011680"/>
            <a:ext cx="2560320" cy="54864"/>
          </a:xfrm>
          <a:prstGeom prst="rect">
            <a:avLst/>
          </a:prstGeom>
          <a:solidFill>
            <a:srgbClr val="1E7A52"/>
          </a:solidFill>
          <a:ln w="12700">
            <a:solidFill>
              <a:srgbClr val="1E7A5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171432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Multinube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9171432" y="267004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Varios proveedores simultáneos.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9171432" y="35661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1E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CUÁNDO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9171432" y="3822192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la continuidad del negocio no admite depender de uno solo.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9171432" y="4846320"/>
            <a:ext cx="2194560" cy="822960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290304" y="484632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 alta; rara vez se justifica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685800" y="598932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caso de la clínica: los datos de historia clínica tienen restricciones normativas, así que el modelo híbrido es el punto de partida razonable.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6858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Módulo 5 · Infraestructura y Topologías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10881360" y="65836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5176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1188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5176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1188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TOPOLOGÍAS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formas de organizar el sistema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criterio de cuándo cada una es la decisión correcta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19202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TOPOLOGÍA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2834640" y="19202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QUÉ ES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19202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CUÁNDO SÍ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8595360" y="19202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QUÉ CUESTA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85800" y="2212848"/>
            <a:ext cx="10820095" cy="749808"/>
          </a:xfrm>
          <a:prstGeom prst="rect">
            <a:avLst/>
          </a:prstGeom>
          <a:solidFill>
            <a:srgbClr val="EFEDE3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2212848"/>
            <a:ext cx="50292" cy="749808"/>
          </a:xfrm>
          <a:prstGeom prst="rect">
            <a:avLst/>
          </a:prstGeom>
          <a:solidFill>
            <a:srgbClr val="27405C"/>
          </a:solidFill>
          <a:ln w="12700">
            <a:solidFill>
              <a:srgbClr val="27405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60120" y="2212848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Monolítica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2834640" y="2212848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en un servidor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669280" y="2212848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pequeño, equipo de pocas personas, dominio estable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595360" y="2212848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8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 obliga a escalar todo junto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85800" y="3017520"/>
            <a:ext cx="10820095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" y="3017520"/>
            <a:ext cx="50292" cy="749808"/>
          </a:xfrm>
          <a:prstGeom prst="rect">
            <a:avLst/>
          </a:prstGeom>
          <a:solidFill>
            <a:srgbClr val="27405C"/>
          </a:solidFill>
          <a:ln w="12700">
            <a:solidFill>
              <a:srgbClr val="27405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60120" y="301752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capas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2834640" y="301752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y servidor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5669280" y="3017520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de escritorio o internas con pocos usuarios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8595360" y="3017520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8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lógica queda en el cliente y es difícil de cambiar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85800" y="3822192"/>
            <a:ext cx="10820095" cy="749808"/>
          </a:xfrm>
          <a:prstGeom prst="rect">
            <a:avLst/>
          </a:prstGeom>
          <a:solidFill>
            <a:srgbClr val="EFEDE3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5800" y="3822192"/>
            <a:ext cx="50292" cy="749808"/>
          </a:xfrm>
          <a:prstGeom prst="rect">
            <a:avLst/>
          </a:prstGeom>
          <a:solidFill>
            <a:srgbClr val="1E7A52"/>
          </a:solidFill>
          <a:ln w="12700">
            <a:solidFill>
              <a:srgbClr val="1E7A5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60120" y="382219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capas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2834640" y="3822192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Cliente, backend y base de datos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5669280" y="3822192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opción por defecto para la mayoría de sistemas web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8595360" y="3822192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8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Suficiente para casi todo lo que verán en el curso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85800" y="4626864"/>
            <a:ext cx="10820095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5800" y="4626864"/>
            <a:ext cx="50292" cy="749808"/>
          </a:xfrm>
          <a:prstGeom prst="rect">
            <a:avLst/>
          </a:prstGeom>
          <a:solidFill>
            <a:srgbClr val="27405C"/>
          </a:solidFill>
          <a:ln w="12700">
            <a:solidFill>
              <a:srgbClr val="27405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60120" y="4626864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Microservicios</a:t>
            </a:r>
            <a:endParaRPr lang="en-US" sz="1350" dirty="0"/>
          </a:p>
        </p:txBody>
      </p:sp>
      <p:sp>
        <p:nvSpPr>
          <p:cNvPr id="42" name="Text 40"/>
          <p:cNvSpPr txBox="1"/>
          <p:nvPr/>
        </p:nvSpPr>
        <p:spPr>
          <a:xfrm>
            <a:off x="2834640" y="4626864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independientes y desplegables por separado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5669280" y="4626864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Varios equipos trabajando en paralelo sobre un dominio grande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8595360" y="4626864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8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 operativa alta: exige monitoreo y automatización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85800" y="5431536"/>
            <a:ext cx="10820095" cy="749808"/>
          </a:xfrm>
          <a:prstGeom prst="rect">
            <a:avLst/>
          </a:prstGeom>
          <a:solidFill>
            <a:srgbClr val="EFEDE3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85800" y="5431536"/>
            <a:ext cx="50292" cy="749808"/>
          </a:xfrm>
          <a:prstGeom prst="rect">
            <a:avLst/>
          </a:prstGeom>
          <a:solidFill>
            <a:srgbClr val="27405C"/>
          </a:solidFill>
          <a:ln w="12700">
            <a:solidFill>
              <a:srgbClr val="27405C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60120" y="5431536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servidor</a:t>
            </a:r>
            <a:endParaRPr lang="en-US" sz="1350" dirty="0"/>
          </a:p>
        </p:txBody>
      </p:sp>
      <p:sp>
        <p:nvSpPr>
          <p:cNvPr id="48" name="Text 46"/>
          <p:cNvSpPr txBox="1"/>
          <p:nvPr/>
        </p:nvSpPr>
        <p:spPr>
          <a:xfrm>
            <a:off x="2834640" y="5431536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que se ejecutan por evento</a:t>
            </a:r>
            <a:endParaRPr lang="en-US" sz="1150" dirty="0"/>
          </a:p>
        </p:txBody>
      </p:sp>
      <p:sp>
        <p:nvSpPr>
          <p:cNvPr id="49" name="Text 47"/>
          <p:cNvSpPr txBox="1"/>
          <p:nvPr/>
        </p:nvSpPr>
        <p:spPr>
          <a:xfrm>
            <a:off x="5669280" y="5431536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Cargas intermitentes o muy variables</a:t>
            </a:r>
            <a:endParaRPr lang="en-US" sz="1150" dirty="0"/>
          </a:p>
        </p:txBody>
      </p:sp>
      <p:sp>
        <p:nvSpPr>
          <p:cNvPr id="50" name="Text 48"/>
          <p:cNvSpPr txBox="1"/>
          <p:nvPr/>
        </p:nvSpPr>
        <p:spPr>
          <a:xfrm>
            <a:off x="8595360" y="5431536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8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impredecible y dependencia fuerte del proveedor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685800" y="6355080"/>
            <a:ext cx="10820095" cy="0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85800" y="630936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para el curso: empiecen por tres capas y justifiquen cualquier cosa más compleja. Los microservicios son una respuesta a un problema de organización, no de tecnología.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6858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Módulo 5 · Infraestructura y Topologías</a:t>
            </a:r>
            <a:endParaRPr lang="en-US" sz="800" dirty="0"/>
          </a:p>
        </p:txBody>
      </p:sp>
      <p:sp>
        <p:nvSpPr>
          <p:cNvPr id="54" name="Text 52"/>
          <p:cNvSpPr txBox="1"/>
          <p:nvPr/>
        </p:nvSpPr>
        <p:spPr>
          <a:xfrm>
            <a:off x="10881360" y="65836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5176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1188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5176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1188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BUENAS PRÁCTICAS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cuesta cada garantía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de estas prácticas es gratis; todas se deciden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2011680"/>
            <a:ext cx="5376672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2011680"/>
            <a:ext cx="5376672" cy="54864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41832" y="221284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Redundancia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41832" y="25786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Duplicar componentes para que la caída de uno no tumbe el servicio.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41832" y="30632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COSTO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691640" y="304495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paga el doble de infraestructura, esté o no en uso.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941832" y="349300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1E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CUÁNDO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1691640" y="34747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la indisponibilidad cuesta más que el servidor duplicado.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309360" y="2011680"/>
            <a:ext cx="5376672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0" y="2011680"/>
            <a:ext cx="5376672" cy="54864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65392" y="221284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Balanceo y autoescalado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565392" y="25786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Repartir la carga y agregar capacidad automáticamente en los picos.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565392" y="30632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COSTO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7315200" y="304495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variable difícil de presupuestar; exige que la aplicación sea replicable.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565392" y="349300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1E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CUÁNDO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7315200" y="34747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la demanda tiene picos marcados y predecibles.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85800" y="4160520"/>
            <a:ext cx="5376672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5800" y="4160520"/>
            <a:ext cx="5376672" cy="54864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41832" y="436168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Segmentación de red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941832" y="47274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zonas para que un intruso no alcance todo el sistema.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2120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COSTO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1691640" y="519379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reglas que mantener y más puntos donde algo puede quedar bloqueado.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941832" y="56418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1E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CUÁNDO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1691640" y="56235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que existan datos sensibles: en salud no es opcional.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309360" y="4160520"/>
            <a:ext cx="5376672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09360" y="4160520"/>
            <a:ext cx="5376672" cy="54864"/>
          </a:xfrm>
          <a:prstGeom prst="rect">
            <a:avLst/>
          </a:prstGeom>
          <a:solidFill>
            <a:srgbClr val="1E7A52"/>
          </a:solidFill>
          <a:ln w="12700">
            <a:solidFill>
              <a:srgbClr val="1E7A5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565392" y="436168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Observabilidad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6565392" y="47274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Registros, métricas y trazas para saber qué está pasando.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6565392" y="52120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COSTO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7315200" y="519379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Almacenamiento, licencias y tiempo del equipo configurando alertas.</a:t>
            </a:r>
            <a:endParaRPr lang="en-US" sz="1150" dirty="0"/>
          </a:p>
        </p:txBody>
      </p:sp>
      <p:sp>
        <p:nvSpPr>
          <p:cNvPr id="47" name="Text 45"/>
          <p:cNvSpPr txBox="1"/>
          <p:nvPr/>
        </p:nvSpPr>
        <p:spPr>
          <a:xfrm>
            <a:off x="6565392" y="56418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1E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CUÁNDO</a:t>
            </a:r>
            <a:endParaRPr lang="en-US" sz="850" dirty="0"/>
          </a:p>
        </p:txBody>
      </p:sp>
      <p:sp>
        <p:nvSpPr>
          <p:cNvPr id="48" name="Text 46"/>
          <p:cNvSpPr txBox="1"/>
          <p:nvPr/>
        </p:nvSpPr>
        <p:spPr>
          <a:xfrm>
            <a:off x="7315200" y="56235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Siempre. Es la práctica con mejor relación costo-beneficio.</a:t>
            </a:r>
            <a:endParaRPr lang="en-US" sz="1150" dirty="0"/>
          </a:p>
        </p:txBody>
      </p:sp>
      <p:sp>
        <p:nvSpPr>
          <p:cNvPr id="49" name="Text 47"/>
          <p:cNvSpPr txBox="1"/>
          <p:nvPr/>
        </p:nvSpPr>
        <p:spPr>
          <a:xfrm>
            <a:off x="6858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Módulo 5 · Infraestructura y Topologías</a:t>
            </a:r>
            <a:endParaRPr lang="en-US" sz="800" dirty="0"/>
          </a:p>
        </p:txBody>
      </p:sp>
      <p:sp>
        <p:nvSpPr>
          <p:cNvPr id="50" name="Text 48"/>
          <p:cNvSpPr txBox="1"/>
          <p:nvPr/>
        </p:nvSpPr>
        <p:spPr>
          <a:xfrm>
            <a:off x="10881360" y="65836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5176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1188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5176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1188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· PRÁCTICA ACTUAL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Infraestructura como código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la topología no se dibuja: se declara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1965960"/>
            <a:ext cx="5120640" cy="4160520"/>
          </a:xfrm>
          <a:prstGeom prst="rect">
            <a:avLst/>
          </a:prstGeom>
          <a:solidFill>
            <a:srgbClr val="10243D"/>
          </a:solidFill>
          <a:ln w="12700">
            <a:solidFill>
              <a:srgbClr val="1024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0120" y="21214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infraestructura.tf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2468880"/>
            <a:ext cx="4663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FD8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"servidor" "aplicaciones" {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F2C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cantidad = 2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8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zona     = "red_interna"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8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memoria  = "8GB"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8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ejecuta  = ["api", "app_clinica"]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FD8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FD8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"base_datos" "clinica" {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8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motor    = "postgresql"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8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zona     = "red_interna"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8A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replicas = 1   # &lt;-- decisión pendiente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8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respaldo = "diario"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FD8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2057400"/>
            <a:ext cx="537667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2057400"/>
            <a:ext cx="50292" cy="960120"/>
          </a:xfrm>
          <a:prstGeom prst="rect">
            <a:avLst/>
          </a:prstGeom>
          <a:solidFill>
            <a:srgbClr val="B85C2E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82512" y="218541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entorno es reproducible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382512" y="245973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Levantar una copia idéntica para pruebas deja de ser un proyecto y pasa a ser un comando.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26480" y="3090672"/>
            <a:ext cx="537667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3090672"/>
            <a:ext cx="50292" cy="960120"/>
          </a:xfrm>
          <a:prstGeom prst="rect">
            <a:avLst/>
          </a:prstGeom>
          <a:solidFill>
            <a:srgbClr val="B85C2E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82512" y="32186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cambios se revisan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382512" y="349300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Aumentar de una réplica a dos es una línea, y esa línea pasa por revisión igual que el código.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126480" y="4123944"/>
            <a:ext cx="537667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26480" y="4123944"/>
            <a:ext cx="50292" cy="960120"/>
          </a:xfrm>
          <a:prstGeom prst="rect">
            <a:avLst/>
          </a:prstGeom>
          <a:solidFill>
            <a:srgbClr val="B85C2E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82512" y="42519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diagrama y la realidad no divergen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382512" y="45262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archivo es la infraestructura, así que no puede quedar desactualizado respecto a ella.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126480" y="5157216"/>
            <a:ext cx="537667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26480" y="5157216"/>
            <a:ext cx="50292" cy="960120"/>
          </a:xfrm>
          <a:prstGeom prst="rect">
            <a:avLst/>
          </a:prstGeom>
          <a:solidFill>
            <a:srgbClr val="B85C2E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382512" y="52852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historial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382512" y="555955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muestra cuándo se cambió la capacidad de un servidor y quién lo aprobó.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685800" y="626364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Herramientas: Terraform, OpenTofu, Pulumi, Bicep. Para el Taller 4 basta con el diagrama; el archivo declarativo es opcional.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858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Módulo 5 · Infraestructura y Topologías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10881360" y="65836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5176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1188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5176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1188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· VALIDACIÓN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Buscar los puntos únicos de falla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paso que convierte un inventario en un análisis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1965960"/>
            <a:ext cx="10820095" cy="73152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5840" y="1965960"/>
            <a:ext cx="10180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punto único de falla es cualquier elemento cuya caída deja el servicio inutilizable, sin importar cuán redundante sea el resto.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5800" y="2880360"/>
            <a:ext cx="537667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" y="3063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304495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nodo compartido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337413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contenedores en el mismo servidor caen juntos.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463040" y="3813048"/>
            <a:ext cx="4389120" cy="438912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581912" y="3813048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clínica: la API y la App Clínica comparten servidor.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309360" y="2880360"/>
            <a:ext cx="537667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37960" y="3063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086600" y="304495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base de datos sin réplica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7086600" y="337413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la redundancia de aplicación se vuelve inútil.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086600" y="3813048"/>
            <a:ext cx="4389120" cy="438912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205472" y="3813048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caso de la diapositiva 6.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85800" y="4572000"/>
            <a:ext cx="537667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144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463040" y="473659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proveedor no sustituible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1463040" y="506577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tercero del que no existe alternativa contratada.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463040" y="5504688"/>
            <a:ext cx="4389120" cy="438912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581912" y="5504688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laboratorio externo de la clínica.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309360" y="4572000"/>
            <a:ext cx="537667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53796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7086600" y="473659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persona única</a:t>
            </a:r>
            <a:endParaRPr lang="en-US" sz="1450" dirty="0"/>
          </a:p>
        </p:txBody>
      </p:sp>
      <p:sp>
        <p:nvSpPr>
          <p:cNvPr id="40" name="Text 38"/>
          <p:cNvSpPr txBox="1"/>
          <p:nvPr/>
        </p:nvSpPr>
        <p:spPr>
          <a:xfrm>
            <a:off x="7086600" y="506577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persona sabe operar un componente.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086600" y="5504688"/>
            <a:ext cx="4389120" cy="438912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205472" y="5504688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aparece en el diagrama, y es el más común.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685800" y="630936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lista es el insumo directo del Módulo 9: cada punto único de falla es un riesgo arquitectónico que hay que ubicar en la matriz de impacto y probabilidad.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6858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Módulo 5 · Infraestructura y Topologías</a:t>
            </a:r>
            <a:endParaRPr lang="en-US" sz="800" dirty="0"/>
          </a:p>
        </p:txBody>
      </p:sp>
      <p:sp>
        <p:nvSpPr>
          <p:cNvPr id="45" name="Text 43"/>
          <p:cNvSpPr txBox="1"/>
          <p:nvPr/>
        </p:nvSpPr>
        <p:spPr>
          <a:xfrm>
            <a:off x="10881360" y="65836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5176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1188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5176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1188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· HERRAMIENTAS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qué dibujarlo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gratuitas o con capa gratuita suficiente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2011680"/>
            <a:ext cx="25603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2011680"/>
            <a:ext cx="2560320" cy="54864"/>
          </a:xfrm>
          <a:prstGeom prst="rect">
            <a:avLst/>
          </a:prstGeom>
          <a:solidFill>
            <a:srgbClr val="1E7A52"/>
          </a:solidFill>
          <a:ln w="12700">
            <a:solidFill>
              <a:srgbClr val="1E7A5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86968" y="22402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draw.io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86968" y="30175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1E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GRATUITO · WEB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886968" y="3310128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Bibliotecas de formas de AWS, Azure y redes incorporadas. La misma herramienta del Taller 3.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86968" y="5029200"/>
            <a:ext cx="2194560" cy="685800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05840" y="50292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Recomendada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47288" y="2011680"/>
            <a:ext cx="25603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47288" y="2011680"/>
            <a:ext cx="2560320" cy="54864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648456" y="22402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Iconos oficiales de nube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648456" y="30175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1627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GRATUITO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3648456" y="3310128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Architecture Icons y Azure Architecture Icons. Dan credibilidad al diagrama frente al cliente.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48456" y="5029200"/>
            <a:ext cx="2194560" cy="685800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767328" y="50292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Complemento de draw.io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08776" y="2011680"/>
            <a:ext cx="25603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08776" y="2011680"/>
            <a:ext cx="2560320" cy="54864"/>
          </a:xfrm>
          <a:prstGeom prst="rect">
            <a:avLst/>
          </a:prstGeom>
          <a:solidFill>
            <a:srgbClr val="27405C"/>
          </a:solidFill>
          <a:ln w="12700">
            <a:solidFill>
              <a:srgbClr val="27405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09944" y="22402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Structurizr · vista de despliegue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409944" y="30175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2740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GRATUITO CON DOCKER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6409944" y="3310128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ya modelaron el C4 en DSL, la vista de despliegue sale del mismo archivo.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09944" y="5029200"/>
            <a:ext cx="2194560" cy="685800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528816" y="50292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quien siguió el camino del DSL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970264" y="2011680"/>
            <a:ext cx="25603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970264" y="2011680"/>
            <a:ext cx="2560320" cy="54864"/>
          </a:xfrm>
          <a:prstGeom prst="rect">
            <a:avLst/>
          </a:prstGeom>
          <a:solidFill>
            <a:srgbClr val="B85C2E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171432" y="22402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u OpenTofu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9171432" y="30175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GRATUITO · CÓDIGO ABIERTO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9171432" y="3310128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declarar la infraestructura en vez de dibujarla. No se exige en el taller.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171432" y="5029200"/>
            <a:ext cx="2194560" cy="685800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290304" y="50292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Opcional, para ir más lejos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685800" y="608076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califica que el diagrama tenga nodos, zonas y protocolos etiquetados. El acabado gráfico no suma puntos.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6858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Módulo 5 · Infraestructura y Topologías</a:t>
            </a:r>
            <a:endParaRPr lang="en-US" sz="800" dirty="0"/>
          </a:p>
        </p:txBody>
      </p:sp>
      <p:sp>
        <p:nvSpPr>
          <p:cNvPr id="47" name="Text 45"/>
          <p:cNvSpPr txBox="1"/>
          <p:nvPr/>
        </p:nvSpPr>
        <p:spPr>
          <a:xfrm>
            <a:off x="10881360" y="65836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5176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1188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5176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1188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· ACTIVIDAD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de infraestructura en clase · 40 minutos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equipos, sobre el sistema del cliente real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2011680"/>
            <a:ext cx="7589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2011680"/>
            <a:ext cx="1051560" cy="100584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2011680"/>
            <a:ext cx="1051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min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965960" y="2139696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Listar nodos y zonas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1965960" y="2450592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Enumeren los lugares de ejecución del sistema del cliente y agrúpenlos en zonas de red. Si el cliente no da el detalle, marquen el supuesto.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3035808"/>
            <a:ext cx="7589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3035808"/>
            <a:ext cx="1051560" cy="100584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" y="3035808"/>
            <a:ext cx="1051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min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965960" y="3163824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Ubicar los contenedores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1965960" y="347472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Tomen su diagrama del Taller 3 y asignen cada contenedor a un nodo. Anoten los que comparten nodo.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85800" y="4059936"/>
            <a:ext cx="7589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" y="4059936"/>
            <a:ext cx="1051560" cy="100584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4059936"/>
            <a:ext cx="1051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min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965960" y="418795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Etiquetar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1965960" y="4498848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y capacidad por nodo; protocolo por conexión. Marquen las conexiones que cruzan zona.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85800" y="5084064"/>
            <a:ext cx="7589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5800" y="5084064"/>
            <a:ext cx="1051560" cy="1005840"/>
          </a:xfrm>
          <a:prstGeom prst="rect">
            <a:avLst/>
          </a:prstGeom>
          <a:solidFill>
            <a:srgbClr val="B85C2E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5800" y="5084064"/>
            <a:ext cx="1051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min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965960" y="521208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Buscar el punto de falla</a:t>
            </a:r>
            <a:endParaRPr lang="en-US" sz="1450" dirty="0"/>
          </a:p>
        </p:txBody>
      </p:sp>
      <p:sp>
        <p:nvSpPr>
          <p:cNvPr id="36" name="Text 34"/>
          <p:cNvSpPr txBox="1"/>
          <p:nvPr/>
        </p:nvSpPr>
        <p:spPr>
          <a:xfrm>
            <a:off x="1965960" y="5522976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por nodo: si este se cae, ¿qué deja de funcionar? Lo que quede sin respuesta es un hallazgo.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549640" y="2011680"/>
            <a:ext cx="2953512" cy="411480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778240" y="22128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E8A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ERRORES QUE VAMOS A BUSCAR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8778240" y="2560320"/>
            <a:ext cx="2514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Nodos sin tecnología ni capacidad</a:t>
            </a:r>
            <a:endParaRPr lang="en-US" sz="12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Zonas de red no dibujadas</a:t>
            </a:r>
            <a:endParaRPr lang="en-US" sz="12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Microservicios propuestos sin justificar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punto único de falla detectado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685800" y="61996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terminar: guarden el diagrama. Se reutiliza en el Módulo 6 para los límites de confianza y en el Módulo 9 para el análisis de riesgos.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858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Módulo 5 · Infraestructura y Topologías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10881360" y="65836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85800"/>
            <a:ext cx="10817352" cy="5486400"/>
          </a:xfrm>
          <a:prstGeom prst="rect">
            <a:avLst/>
          </a:prstGeom>
          <a:solidFill>
            <a:srgbClr val="16273F"/>
          </a:solidFill>
          <a:ln w="12700">
            <a:solidFill>
              <a:srgbClr val="48668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43000" y="1005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E8A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LLEVARSE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13258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Infraestructura en cuatro ideas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21488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2148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contenedor no es el nodo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26280" y="214884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qué se despliega no dice dónde corre; son dos diagramas distintos.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926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783080" y="2926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garantía tiene precio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92608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Redundancia, autoescalado y observabilidad se deciden, no se dan por sentadas.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7033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783080" y="3703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capas por defecto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370332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topología más compleja necesita justificación explícita.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44805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783080" y="4480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infraestructura se declara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448056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Escribirla como código es lo que evita que el diagrama y la realidad se separen.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143000" y="5394960"/>
            <a:ext cx="6949440" cy="685800"/>
          </a:xfrm>
          <a:prstGeom prst="rect">
            <a:avLst/>
          </a:prstGeom>
          <a:solidFill>
            <a:srgbClr val="16273F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325880" y="539496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paso: Taller 4 · diagrama de despliegue del cliente, con zonas, protocolos y puntos únicos de falla.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366760" y="2148840"/>
            <a:ext cx="3136392" cy="3931920"/>
          </a:xfrm>
          <a:prstGeom prst="rect">
            <a:avLst/>
          </a:prstGeom>
          <a:solidFill>
            <a:srgbClr val="18304C"/>
          </a:solidFill>
          <a:ln w="12700">
            <a:solidFill>
              <a:srgbClr val="48668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95360" y="23591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E8A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LECTURAS RECOMENDADAS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595360" y="2697480"/>
            <a:ext cx="2697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SP 500-292 — Cloud Computing Reference Architecture</a:t>
            </a:r>
            <a:endParaRPr lang="en-US" sz="1150" dirty="0"/>
          </a:p>
          <a:p>
            <a:pPr indent="0" marL="0">
              <a:lnSpc>
                <a:spcPts val="15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Twelve-Factor App — twelve-factor.net</a:t>
            </a:r>
            <a:endParaRPr lang="en-US" sz="1150" dirty="0"/>
          </a:p>
          <a:p>
            <a:pPr indent="0" marL="0">
              <a:lnSpc>
                <a:spcPts val="15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Well-Architected Framework</a:t>
            </a:r>
            <a:endParaRPr lang="en-US" sz="1150" dirty="0"/>
          </a:p>
          <a:p>
            <a:pPr indent="0" marL="0">
              <a:lnSpc>
                <a:spcPts val="15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SRE Book — capítulos de disponibilidad</a:t>
            </a:r>
            <a:endParaRPr lang="en-US" sz="1150" dirty="0"/>
          </a:p>
          <a:p>
            <a:pPr indent="0" marL="0">
              <a:lnSpc>
                <a:spcPts val="15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/ OpenTofu — documentación oficial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6400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5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Universidad de La Sabana · Ing. César Augusto Vega Fernández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5 - Arquitectura de Infraestructura y Topologías</dc:title>
  <dc:subject>PptxGenJS Presentation</dc:subject>
  <dc:creator>César Augusto Vega Fernández</dc:creator>
  <cp:lastModifiedBy>César Augusto Vega Fernández</cp:lastModifiedBy>
  <cp:revision>1</cp:revision>
  <dcterms:created xsi:type="dcterms:W3CDTF">2026-08-29T02:50:14Z</dcterms:created>
  <dcterms:modified xsi:type="dcterms:W3CDTF">2026-08-29T02:50:14Z</dcterms:modified>
</cp:coreProperties>
</file>